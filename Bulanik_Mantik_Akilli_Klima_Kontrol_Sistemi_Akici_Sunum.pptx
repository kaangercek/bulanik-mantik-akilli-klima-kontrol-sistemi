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4494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slaytta projenin amacını tek cümleyle aç: klasik klima kontrolü yerine insan konforunu dikkate alan bulanık karar yapısı kuruldu.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Sunum yapısını açıklarken bu proje yalnızca bir hesaplama değil, açıklanabilir karar verme sistemi diye vurgula.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Klasik eşik mantığı ile bulanık mantığı kıyaslayarak projenin gerekliliğini anlat.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Değişkenleri kısa tut. Sıcaklık, nem ve oda büyüklüğü girdi; fan hızı çıktı olarak modellenmiştir.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slaytta üyelik derecesinin 0 ile 1 arasında olduğunu ve ara değerlerin aynı anda birden fazla kümeye ait olabileceğini açıkla.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Mamdani modelini tek cümleyle anlat: giriş üyelikleri hesaplanır, kurallar min operatörüyle tetiklenir, çıktılar max ile birleştirilir ve centroid ile sayısallaştırılır.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 kuralı tek tek okumak yerine eğilimi anlat: yüksek sıcaklık, yüksek nem ve büyük oda daha yüksek fan hızı doğurur.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Aktif kurallar ve centroid grafiği, projenin açıklanabilirliğini gösterir.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Arayüzde kullanıcı girdileri slider ile değiştirir, Hesapla butonundan sonra sonuç, grafikler ve aktif kurallar birlikte görünür.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Grafikte fan hızının sıcaklık, nem ve oda büyüklüğü arttıkça yükseldiğini açıkla.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slaytta senaryo sonuçlarını yorumla; modelin tek bir sensöre bağlı kalmadığını vurgula.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Kıyaslamada bulanık mantığın öğrenme modeli olmadığını, uzman bilgisiyle kontrol mantığı kurduğunu belirt.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 slaytta projenin gereksinimleri karşıladığını ve GitHub teslim paketinin hazır olması gerektiğini belirt.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interior_scene_of_a_modern_living_room_air_co_batch_1.png"/>
          <p:cNvPicPr>
            <a:picLocks noChangeAspect="1"/>
          </p:cNvPicPr>
          <p:nvPr/>
        </p:nvPicPr>
        <p:blipFill>
          <a:blip r:embed="rId3"/>
          <a:srcRect r="-5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17920" y="0"/>
            <a:ext cx="5973775" cy="6858000"/>
          </a:xfrm>
          <a:prstGeom prst="rect">
            <a:avLst/>
          </a:prstGeom>
          <a:solidFill>
            <a:srgbClr val="082F3A">
              <a:alpha val="32000"/>
            </a:srgbClr>
          </a:solidFill>
          <a:ln w="12700">
            <a:solidFill>
              <a:srgbClr val="082F3A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85800" y="685800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6F7FB"/>
          </a:solidFill>
          <a:ln w="12700">
            <a:solidFill>
              <a:srgbClr val="E6F7FB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" y="745236"/>
            <a:ext cx="2706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Bulanık Mantık Dersi • Dönem Projesi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85800" y="1325880"/>
            <a:ext cx="489204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Bulanık Mantık Tabanlı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Akıllı Klima Kontrol Sistemi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713232" y="3035808"/>
            <a:ext cx="1188720" cy="0"/>
          </a:xfrm>
          <a:prstGeom prst="line">
            <a:avLst/>
          </a:prstGeom>
          <a:noFill/>
          <a:ln w="50800">
            <a:solidFill>
              <a:srgbClr val="16A3C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3310128"/>
            <a:ext cx="49834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Sıcaklık, nem ve oda büyüklüğüne göre fan hızını açıklanabilir kurallarla belirleyen bulanık kontrolcü.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85800" y="5806440"/>
            <a:ext cx="3200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Hazırlayan: Kaan Gerçek</a:t>
            </a:r>
            <a:endParaRPr lang="en-US" sz="1250" dirty="0"/>
          </a:p>
          <a:p>
            <a:pPr marL="0" indent="0">
              <a:buNone/>
            </a:pPr>
            <a:r>
              <a:rPr lang="tr-TR" sz="1250" dirty="0">
                <a:solidFill>
                  <a:srgbClr val="64748B"/>
                </a:solidFill>
                <a:latin typeface="Aptos" pitchFamily="34" charset="0"/>
              </a:rPr>
              <a:t>22430070041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137160"/>
            <a:ext cx="2103120" cy="2103120"/>
          </a:xfrm>
          <a:prstGeom prst="arc">
            <a:avLst/>
          </a:prstGeom>
          <a:solidFill>
            <a:srgbClr val="F8FAFC">
              <a:alpha val="0"/>
            </a:srgbClr>
          </a:solidFill>
          <a:ln w="19050">
            <a:solidFill>
              <a:srgbClr val="D2F0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5230368"/>
            <a:ext cx="1417320" cy="1417320"/>
          </a:xfrm>
          <a:prstGeom prst="arc">
            <a:avLst/>
          </a:prstGeom>
          <a:solidFill>
            <a:srgbClr val="F8FAFC">
              <a:alpha val="0"/>
            </a:srgbClr>
          </a:solidFill>
          <a:ln w="19050">
            <a:solidFill>
              <a:srgbClr val="E2D8FF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92240"/>
            <a:ext cx="6126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Bulanık Mantık Tabanlı Akıllı Klima Kontrol Sistemi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411480"/>
            <a:ext cx="8778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Sunum Akışı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94360" y="1060704"/>
            <a:ext cx="1005840" cy="0"/>
          </a:xfrm>
          <a:prstGeom prst="line">
            <a:avLst/>
          </a:prstGeom>
          <a:noFill/>
          <a:ln w="38100">
            <a:solidFill>
              <a:srgbClr val="16A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61288"/>
            <a:ext cx="9692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 anlatımı problemden uygulamaya ve test sonuçlarına doğru ilerler.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2907792" y="3035808"/>
            <a:ext cx="594360" cy="0"/>
          </a:xfrm>
          <a:prstGeom prst="line">
            <a:avLst/>
          </a:prstGeom>
          <a:noFill/>
          <a:ln w="25400">
            <a:solidFill>
              <a:srgbClr val="A7DDE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2960" y="1874520"/>
            <a:ext cx="2084832" cy="2240280"/>
          </a:xfrm>
          <a:prstGeom prst="roundRect">
            <a:avLst>
              <a:gd name="adj" fmla="val 3509"/>
            </a:avLst>
          </a:prstGeom>
          <a:solidFill>
            <a:srgbClr val="E6F7FB"/>
          </a:solidFill>
          <a:ln w="12700">
            <a:solidFill>
              <a:srgbClr val="D5EAF0">
                <a:alpha val="90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20574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3154680"/>
            <a:ext cx="16916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Konfor neden kesin eşiklerle yönetilemez?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96712" y="3035808"/>
            <a:ext cx="594360" cy="0"/>
          </a:xfrm>
          <a:prstGeom prst="line">
            <a:avLst/>
          </a:prstGeom>
          <a:noFill/>
          <a:ln w="25400">
            <a:solidFill>
              <a:srgbClr val="A7DDE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611880" y="1874520"/>
            <a:ext cx="2084832" cy="2240280"/>
          </a:xfrm>
          <a:prstGeom prst="roundRect">
            <a:avLst>
              <a:gd name="adj" fmla="val 3509"/>
            </a:avLst>
          </a:prstGeom>
          <a:solidFill>
            <a:srgbClr val="E9FBF4"/>
          </a:solidFill>
          <a:ln w="12700">
            <a:solidFill>
              <a:srgbClr val="D5EAF0">
                <a:alpha val="90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94760" y="20574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79476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Tasarım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94760" y="3154680"/>
            <a:ext cx="16916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Girişler, üyelik fonksiyonları ve kurallar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485632" y="3035808"/>
            <a:ext cx="594360" cy="0"/>
          </a:xfrm>
          <a:prstGeom prst="line">
            <a:avLst/>
          </a:prstGeom>
          <a:noFill/>
          <a:ln w="25400">
            <a:solidFill>
              <a:srgbClr val="A7DDE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00800" y="1874520"/>
            <a:ext cx="2084832" cy="2240280"/>
          </a:xfrm>
          <a:prstGeom prst="roundRect">
            <a:avLst>
              <a:gd name="adj" fmla="val 3509"/>
            </a:avLst>
          </a:prstGeom>
          <a:solidFill>
            <a:srgbClr val="E6F7FB"/>
          </a:solidFill>
          <a:ln w="12700">
            <a:solidFill>
              <a:srgbClr val="D5EAF0">
                <a:alpha val="90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0" y="20574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8368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Uygulama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83680" y="3154680"/>
            <a:ext cx="16916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 arayüzü ve anlık hesaplama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189720" y="1874520"/>
            <a:ext cx="2084832" cy="2240280"/>
          </a:xfrm>
          <a:prstGeom prst="roundRect">
            <a:avLst>
              <a:gd name="adj" fmla="val 3509"/>
            </a:avLst>
          </a:prstGeom>
          <a:solidFill>
            <a:srgbClr val="E9FBF4"/>
          </a:solidFill>
          <a:ln w="12700">
            <a:solidFill>
              <a:srgbClr val="D5EAF0">
                <a:alpha val="90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72600" y="20574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37260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372600" y="3154680"/>
            <a:ext cx="16916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Senaryolar, grafikler ve değerlendirme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97280" y="4937760"/>
            <a:ext cx="99669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Amaç: yalnızca çıktı üretmek değil; sistemin nasıl düşündüğünü grafikler ve aktif kurallarla açıklamak.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137160"/>
            <a:ext cx="2103120" cy="2103120"/>
          </a:xfrm>
          <a:prstGeom prst="arc">
            <a:avLst/>
          </a:prstGeom>
          <a:solidFill>
            <a:srgbClr val="F8FAFC">
              <a:alpha val="0"/>
            </a:srgbClr>
          </a:solidFill>
          <a:ln w="19050">
            <a:solidFill>
              <a:srgbClr val="D2F0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5230368"/>
            <a:ext cx="1417320" cy="1417320"/>
          </a:xfrm>
          <a:prstGeom prst="arc">
            <a:avLst/>
          </a:prstGeom>
          <a:solidFill>
            <a:srgbClr val="F8FAFC">
              <a:alpha val="0"/>
            </a:srgbClr>
          </a:solidFill>
          <a:ln w="19050">
            <a:solidFill>
              <a:srgbClr val="E2D8FF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92240"/>
            <a:ext cx="6126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Bulanık Mantık Tabanlı Akıllı Klima Kontrol Sistemi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411480"/>
            <a:ext cx="8778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Tanımı: Konfor Tek Bir Değere Bağlı Değil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94360" y="1060704"/>
            <a:ext cx="1005840" cy="0"/>
          </a:xfrm>
          <a:prstGeom prst="line">
            <a:avLst/>
          </a:prstGeom>
          <a:noFill/>
          <a:ln w="38100">
            <a:solidFill>
              <a:srgbClr val="16A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61288"/>
            <a:ext cx="9692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Aynı sıcaklık, farklı nem ve oda büyüklüğünde farklı hissedilir.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1691640"/>
            <a:ext cx="48006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7E3EA">
                <a:alpha val="90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Klasik yaklaşım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2560320"/>
            <a:ext cx="4206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“Sıcaklık 28°C üstündeyse fanı hızlandır.”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60120" y="3502152"/>
            <a:ext cx="109728" cy="109728"/>
          </a:xfrm>
          <a:prstGeom prst="ellipse">
            <a:avLst/>
          </a:prstGeom>
          <a:solidFill>
            <a:srgbClr val="16A3C8"/>
          </a:solidFill>
          <a:ln w="12700">
            <a:solidFill>
              <a:srgbClr val="16A3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429000"/>
            <a:ext cx="3931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Keskin eşik kullanır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960120" y="3941064"/>
            <a:ext cx="109728" cy="109728"/>
          </a:xfrm>
          <a:prstGeom prst="ellipse">
            <a:avLst/>
          </a:prstGeom>
          <a:solidFill>
            <a:srgbClr val="16A3C8"/>
          </a:solidFill>
          <a:ln w="12700">
            <a:solidFill>
              <a:srgbClr val="16A3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3867912"/>
            <a:ext cx="3931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Nem etkisini ihmal edebilir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960120" y="4379976"/>
            <a:ext cx="109728" cy="109728"/>
          </a:xfrm>
          <a:prstGeom prst="ellipse">
            <a:avLst/>
          </a:prstGeom>
          <a:solidFill>
            <a:srgbClr val="16A3C8"/>
          </a:solidFill>
          <a:ln w="12700">
            <a:solidFill>
              <a:srgbClr val="16A3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306824"/>
            <a:ext cx="3931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Oda hacmine göre uyum zayıftır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446520" y="1691640"/>
            <a:ext cx="4800600" cy="4206240"/>
          </a:xfrm>
          <a:prstGeom prst="roundRect">
            <a:avLst>
              <a:gd name="adj" fmla="val 1739"/>
            </a:avLst>
          </a:prstGeom>
          <a:solidFill>
            <a:srgbClr val="E6F7FB"/>
          </a:solidFill>
          <a:ln w="12700">
            <a:solidFill>
              <a:srgbClr val="C7EAF2">
                <a:alpha val="90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2084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Bulanık yaklaşım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20840" y="2560320"/>
            <a:ext cx="42062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i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“Sıcaklık yüksek, nem nemli ve oda büyükse fan çok yüksek çalışsın.”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766560" y="3639312"/>
            <a:ext cx="109728" cy="109728"/>
          </a:xfrm>
          <a:prstGeom prst="ellipse">
            <a:avLst/>
          </a:prstGeom>
          <a:solidFill>
            <a:srgbClr val="16A3C8"/>
          </a:solidFill>
          <a:ln w="12700">
            <a:solidFill>
              <a:srgbClr val="16A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3566160"/>
            <a:ext cx="3931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İnsan benzeri sözel karar verir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766560" y="4078224"/>
            <a:ext cx="109728" cy="109728"/>
          </a:xfrm>
          <a:prstGeom prst="ellipse">
            <a:avLst/>
          </a:prstGeom>
          <a:solidFill>
            <a:srgbClr val="16A3C8"/>
          </a:solidFill>
          <a:ln w="12700">
            <a:solidFill>
              <a:srgbClr val="16A3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4005072"/>
            <a:ext cx="3931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Geçişler yumuşaktır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6766560" y="4517136"/>
            <a:ext cx="109728" cy="109728"/>
          </a:xfrm>
          <a:prstGeom prst="ellipse">
            <a:avLst/>
          </a:prstGeom>
          <a:solidFill>
            <a:srgbClr val="16A3C8"/>
          </a:solidFill>
          <a:ln w="12700">
            <a:solidFill>
              <a:srgbClr val="16A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4443984"/>
            <a:ext cx="3931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Kural nedeni görülebilir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5742432" y="3639312"/>
            <a:ext cx="411480" cy="0"/>
          </a:xfrm>
          <a:prstGeom prst="line">
            <a:avLst/>
          </a:prstGeom>
          <a:noFill/>
          <a:ln w="31750">
            <a:solidFill>
              <a:srgbClr val="16A3C8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137160"/>
            <a:ext cx="2103120" cy="2103120"/>
          </a:xfrm>
          <a:prstGeom prst="arc">
            <a:avLst/>
          </a:prstGeom>
          <a:solidFill>
            <a:srgbClr val="F8FAFC">
              <a:alpha val="0"/>
            </a:srgbClr>
          </a:solidFill>
          <a:ln w="19050">
            <a:solidFill>
              <a:srgbClr val="D2F0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5230368"/>
            <a:ext cx="1417320" cy="1417320"/>
          </a:xfrm>
          <a:prstGeom prst="arc">
            <a:avLst/>
          </a:prstGeom>
          <a:solidFill>
            <a:srgbClr val="F8FAFC">
              <a:alpha val="0"/>
            </a:srgbClr>
          </a:solidFill>
          <a:ln w="19050">
            <a:solidFill>
              <a:srgbClr val="E2D8FF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92240"/>
            <a:ext cx="6126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Bulanık Mantık Tabanlı Akıllı Klima Kontrol Sistemi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411480"/>
            <a:ext cx="8778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 Değişkenleri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94360" y="1060704"/>
            <a:ext cx="1005840" cy="0"/>
          </a:xfrm>
          <a:prstGeom prst="line">
            <a:avLst/>
          </a:prstGeom>
          <a:noFill/>
          <a:ln w="38100">
            <a:solidFill>
              <a:srgbClr val="16A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61288"/>
            <a:ext cx="9692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az 3 giriş ve 3 dilsel tanım şartı karşılanmıştır.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164592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FFF4DE"/>
          </a:solidFill>
          <a:ln w="12700">
            <a:solidFill>
              <a:srgbClr val="D7E3EA">
                <a:alpha val="90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120" y="202996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075688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82F3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🌡️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783080" y="19019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Sıcaklık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89120" y="19476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16–36 °C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83080" y="2450592"/>
            <a:ext cx="3657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Düşük • Konforlu • Yüksek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1520" y="388620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E6F7FB"/>
          </a:solidFill>
          <a:ln w="12700">
            <a:solidFill>
              <a:srgbClr val="D7E3EA">
                <a:alpha val="90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120" y="42702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315968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82F3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💧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783080" y="41422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389120" y="41879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20–90 %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83080" y="4690872"/>
            <a:ext cx="3657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Kuru • Normal • Nemli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355080" y="164592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E9FBF4"/>
          </a:solidFill>
          <a:ln w="12700">
            <a:solidFill>
              <a:srgbClr val="D7E3EA">
                <a:alpha val="90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0" y="202996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2075688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82F3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406640" y="19019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Oda Büyüklüğü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012680" y="19476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10–60 m²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6640" y="2450592"/>
            <a:ext cx="3657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Küçük • Orta • Büyük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355080" y="388620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F1EBFF"/>
          </a:solidFill>
          <a:ln w="12700">
            <a:solidFill>
              <a:srgbClr val="D7E3EA">
                <a:alpha val="90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83680" y="427024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4315968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82F3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🌀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406640" y="41422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Fan Hızı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012680" y="41879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0–100 %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06640" y="4690872"/>
            <a:ext cx="3657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Çok Düşük • Düşük • Orta • Yüksek • Çok Yüksek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5989320" y="2286000"/>
            <a:ext cx="0" cy="2606040"/>
          </a:xfrm>
          <a:prstGeom prst="line">
            <a:avLst/>
          </a:prstGeom>
          <a:noFill/>
          <a:ln w="12700">
            <a:solidFill>
              <a:srgbClr val="CFE3E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137160"/>
            <a:ext cx="2103120" cy="2103120"/>
          </a:xfrm>
          <a:prstGeom prst="arc">
            <a:avLst/>
          </a:prstGeom>
          <a:solidFill>
            <a:srgbClr val="F8FAFC">
              <a:alpha val="0"/>
            </a:srgbClr>
          </a:solidFill>
          <a:ln w="19050">
            <a:solidFill>
              <a:srgbClr val="D2F0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5230368"/>
            <a:ext cx="1417320" cy="1417320"/>
          </a:xfrm>
          <a:prstGeom prst="arc">
            <a:avLst/>
          </a:prstGeom>
          <a:solidFill>
            <a:srgbClr val="F8FAFC">
              <a:alpha val="0"/>
            </a:srgbClr>
          </a:solidFill>
          <a:ln w="19050">
            <a:solidFill>
              <a:srgbClr val="E2D8FF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92240"/>
            <a:ext cx="6126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Bulanık Mantık Tabanlı Akıllı Klima Kontrol Sistemi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411480"/>
            <a:ext cx="8778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Üyelik Fonksiyonları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94360" y="1060704"/>
            <a:ext cx="1005840" cy="0"/>
          </a:xfrm>
          <a:prstGeom prst="line">
            <a:avLst/>
          </a:prstGeom>
          <a:noFill/>
          <a:ln w="38100">
            <a:solidFill>
              <a:srgbClr val="16A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61288"/>
            <a:ext cx="9692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Üçgensel ve yamuksal fonksiyonlarla yumuşak geçişler tanımlanmıştır.</a:t>
            </a:r>
            <a:endParaRPr lang="en-US" sz="1450" dirty="0"/>
          </a:p>
        </p:txBody>
      </p:sp>
      <p:pic>
        <p:nvPicPr>
          <p:cNvPr id="10" name="Image 0" descr="/mnt/data/fuzzy_assets/membership_fun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72551"/>
            <a:ext cx="7680960" cy="4381579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823960" y="169164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7E3EA">
                <a:alpha val="90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09828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Neden bu yapı?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9144000" y="2679192"/>
            <a:ext cx="109728" cy="109728"/>
          </a:xfrm>
          <a:prstGeom prst="ellipse">
            <a:avLst/>
          </a:prstGeom>
          <a:solidFill>
            <a:srgbClr val="16A3C8"/>
          </a:solidFill>
          <a:ln w="12700">
            <a:solidFill>
              <a:srgbClr val="16A3C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72600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Keskin geçiş yerine kademeli karar</a:t>
            </a:r>
            <a:endParaRPr lang="en-US" sz="1330" dirty="0"/>
          </a:p>
        </p:txBody>
      </p:sp>
      <p:sp>
        <p:nvSpPr>
          <p:cNvPr id="15" name="Shape 12"/>
          <p:cNvSpPr/>
          <p:nvPr/>
        </p:nvSpPr>
        <p:spPr>
          <a:xfrm>
            <a:off x="9144000" y="3200400"/>
            <a:ext cx="109728" cy="109728"/>
          </a:xfrm>
          <a:prstGeom prst="ellipse">
            <a:avLst/>
          </a:prstGeom>
          <a:solidFill>
            <a:srgbClr val="16A3C8"/>
          </a:solidFill>
          <a:ln w="12700">
            <a:solidFill>
              <a:srgbClr val="16A3C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72600" y="3127248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Orta bölgelerde birden fazla kural aktif</a:t>
            </a:r>
            <a:endParaRPr lang="en-US" sz="1330" dirty="0"/>
          </a:p>
        </p:txBody>
      </p:sp>
      <p:sp>
        <p:nvSpPr>
          <p:cNvPr id="17" name="Shape 14"/>
          <p:cNvSpPr/>
          <p:nvPr/>
        </p:nvSpPr>
        <p:spPr>
          <a:xfrm>
            <a:off x="9144000" y="3721608"/>
            <a:ext cx="109728" cy="109728"/>
          </a:xfrm>
          <a:prstGeom prst="ellipse">
            <a:avLst/>
          </a:prstGeom>
          <a:solidFill>
            <a:srgbClr val="16A3C8"/>
          </a:solidFill>
          <a:ln w="12700">
            <a:solidFill>
              <a:srgbClr val="16A3C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72600" y="3648456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Centroid ile tek sayısal çıkış</a:t>
            </a:r>
            <a:endParaRPr lang="en-US" sz="1330" dirty="0"/>
          </a:p>
        </p:txBody>
      </p:sp>
      <p:sp>
        <p:nvSpPr>
          <p:cNvPr id="19" name="Shape 16"/>
          <p:cNvSpPr/>
          <p:nvPr/>
        </p:nvSpPr>
        <p:spPr>
          <a:xfrm>
            <a:off x="9070848" y="461772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E6F7FB"/>
          </a:solidFill>
          <a:ln w="12700">
            <a:solidFill>
              <a:srgbClr val="E6F7FB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80576" y="467715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Düşük / Orta / Yüksek geçişleri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137160"/>
            <a:ext cx="2103120" cy="2103120"/>
          </a:xfrm>
          <a:prstGeom prst="arc">
            <a:avLst/>
          </a:prstGeom>
          <a:solidFill>
            <a:srgbClr val="F8FAFC">
              <a:alpha val="0"/>
            </a:srgbClr>
          </a:solidFill>
          <a:ln w="19050">
            <a:solidFill>
              <a:srgbClr val="D2F0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5230368"/>
            <a:ext cx="1417320" cy="1417320"/>
          </a:xfrm>
          <a:prstGeom prst="arc">
            <a:avLst/>
          </a:prstGeom>
          <a:solidFill>
            <a:srgbClr val="F8FAFC">
              <a:alpha val="0"/>
            </a:srgbClr>
          </a:solidFill>
          <a:ln w="19050">
            <a:solidFill>
              <a:srgbClr val="E2D8FF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92240"/>
            <a:ext cx="6126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Bulanık Mantık Tabanlı Akıllı Klima Kontrol Sistemi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411480"/>
            <a:ext cx="8778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Çıkarım Mekanizması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94360" y="1060704"/>
            <a:ext cx="1005840" cy="0"/>
          </a:xfrm>
          <a:prstGeom prst="line">
            <a:avLst/>
          </a:prstGeom>
          <a:noFill/>
          <a:ln w="38100">
            <a:solidFill>
              <a:srgbClr val="16A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61288"/>
            <a:ext cx="9692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Mamdani çıkarım modeli: bulanıklaştırma, kural aktivasyonu, birleştirme ve durulaştırma.</a:t>
            </a:r>
            <a:endParaRPr lang="en-US" sz="1450" dirty="0"/>
          </a:p>
        </p:txBody>
      </p:sp>
      <p:pic>
        <p:nvPicPr>
          <p:cNvPr id="10" name="Image 0" descr="/mnt/data/a_clean_modern_infographic_conceptual_diagram_o_batch_2.png"/>
          <p:cNvPicPr>
            <a:picLocks noChangeAspect="1"/>
          </p:cNvPicPr>
          <p:nvPr/>
        </p:nvPicPr>
        <p:blipFill>
          <a:blip r:embed="rId3"/>
          <a:srcRect r="-60325"/>
          <a:stretch/>
        </p:blipFill>
        <p:spPr>
          <a:xfrm>
            <a:off x="594360" y="1572768"/>
            <a:ext cx="11018520" cy="386791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60120" y="5715000"/>
            <a:ext cx="102412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7E3EA">
                <a:alpha val="90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143000" y="583387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= min  •  Kural çıktıları = max  •  Durulaştırma = centroid / ağırlık merkezi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137160"/>
            <a:ext cx="2103120" cy="2103120"/>
          </a:xfrm>
          <a:prstGeom prst="arc">
            <a:avLst/>
          </a:prstGeom>
          <a:solidFill>
            <a:srgbClr val="F8FAFC">
              <a:alpha val="0"/>
            </a:srgbClr>
          </a:solidFill>
          <a:ln w="19050">
            <a:solidFill>
              <a:srgbClr val="D2F0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5230368"/>
            <a:ext cx="1417320" cy="1417320"/>
          </a:xfrm>
          <a:prstGeom prst="arc">
            <a:avLst/>
          </a:prstGeom>
          <a:solidFill>
            <a:srgbClr val="F8FAFC">
              <a:alpha val="0"/>
            </a:srgbClr>
          </a:solidFill>
          <a:ln w="19050">
            <a:solidFill>
              <a:srgbClr val="E2D8FF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92240"/>
            <a:ext cx="6126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Bulanık Mantık Tabanlı Akıllı Klima Kontrol Sistemi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411480"/>
            <a:ext cx="8778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Kural Tabanı: 27 IF–THEN Kuralı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94360" y="1060704"/>
            <a:ext cx="1005840" cy="0"/>
          </a:xfrm>
          <a:prstGeom prst="line">
            <a:avLst/>
          </a:prstGeom>
          <a:noFill/>
          <a:ln w="38100">
            <a:solidFill>
              <a:srgbClr val="16A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61288"/>
            <a:ext cx="9692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giriş değişkeninin 3 dilsel seviyesi tam kombinasyonla değerlendirilmiştir.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1645920"/>
            <a:ext cx="3337560" cy="37033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E3EA">
                <a:alpha val="90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1901952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E6F7FB"/>
          </a:solidFill>
          <a:ln w="12700">
            <a:solidFill>
              <a:srgbClr val="E6F7F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196138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Sıcaklık: Düşük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43000" y="2359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</a:rPr>
              <a:t>Nem ↓  |  Oda →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45920" y="26791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</a:rPr>
              <a:t>Küçük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340864" y="26791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</a:rPr>
              <a:t>Orta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035808" y="26791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</a:rPr>
              <a:t>Büyük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60120" y="299923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Kuru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627632" y="2907792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D7F7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27632" y="2971800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F3A"/>
                </a:solidFill>
              </a:rPr>
              <a:t>ÇD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22576" y="2907792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E6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22576" y="2971800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F3A"/>
                </a:solidFill>
              </a:rPr>
              <a:t>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017520" y="2907792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E6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2971800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F3A"/>
                </a:solidFill>
              </a:rPr>
              <a:t>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0120" y="35112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Normal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627632" y="3419856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E6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27632" y="3483864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F3A"/>
                </a:solidFill>
              </a:rPr>
              <a:t>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322576" y="3419856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E6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22576" y="3483864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F3A"/>
                </a:solidFill>
              </a:rPr>
              <a:t>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17520" y="3419856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FFF4D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0" y="3483864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F3A"/>
                </a:solidFill>
              </a:rPr>
              <a:t>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60120" y="402336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Nemli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627632" y="3931920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E6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27632" y="3995928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F3A"/>
                </a:solidFill>
              </a:rPr>
              <a:t>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322576" y="3931920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FFF4D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22576" y="3995928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F3A"/>
                </a:solidFill>
              </a:rPr>
              <a:t>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017520" y="3931920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FFF4D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0" y="3995928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F3A"/>
                </a:solidFill>
              </a:rPr>
              <a:t>O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4736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</a:rPr>
              <a:t>Kural eğilimi: ortam ağırlaştıkça fan seviyesi yükselir.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4526280" y="1645920"/>
            <a:ext cx="3337560" cy="37033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E3EA">
                <a:alpha val="90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1901952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E9FBF4"/>
          </a:solidFill>
          <a:ln w="12700">
            <a:solidFill>
              <a:srgbClr val="E9FBF4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196138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Sıcaklık: Konforlu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37760" y="2359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</a:rPr>
              <a:t>Nem ↓  |  Oda →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440680" y="26791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</a:rPr>
              <a:t>Küçük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135624" y="26791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</a:rPr>
              <a:t>Orta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830568" y="26791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</a:rPr>
              <a:t>Büyük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754880" y="299923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Kuru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422392" y="2907792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E6F7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22392" y="2971800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F3A"/>
                </a:solidFill>
              </a:rPr>
              <a:t>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17336" y="2907792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FFF4D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17336" y="2971800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F3A"/>
                </a:solidFill>
              </a:rPr>
              <a:t>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12280" y="2907792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FFF4D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12280" y="2971800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F3A"/>
                </a:solidFill>
              </a:rPr>
              <a:t>O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54880" y="35112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Normal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422392" y="3419856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FFF4D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22392" y="3483864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F3A"/>
                </a:solidFill>
              </a:rPr>
              <a:t>O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17336" y="3419856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FFF4D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17336" y="3483864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F3A"/>
                </a:solidFill>
              </a:rPr>
              <a:t>O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812280" y="3419856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FFE8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12280" y="3483864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F3A"/>
                </a:solidFill>
              </a:rPr>
              <a:t>Y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754880" y="402336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Nemli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422392" y="3931920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FFF4D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22392" y="3995928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F3A"/>
                </a:solidFill>
              </a:rPr>
              <a:t>O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117336" y="3931920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FFE8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17336" y="3995928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F3A"/>
                </a:solidFill>
              </a:rPr>
              <a:t>Y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812280" y="3931920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FFE8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12280" y="3995928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F3A"/>
                </a:solidFill>
              </a:rPr>
              <a:t>Y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892040" y="4736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</a:rPr>
              <a:t>Kural eğilimi: ortam ağırlaştıkça fan seviyesi yükselir.</a:t>
            </a:r>
            <a:endParaRPr lang="en-US" sz="1080" dirty="0"/>
          </a:p>
        </p:txBody>
      </p:sp>
      <p:sp>
        <p:nvSpPr>
          <p:cNvPr id="68" name="Shape 66"/>
          <p:cNvSpPr/>
          <p:nvPr/>
        </p:nvSpPr>
        <p:spPr>
          <a:xfrm>
            <a:off x="8321040" y="1645920"/>
            <a:ext cx="3337560" cy="37033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E3EA">
                <a:alpha val="90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8641080" y="1901952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FFF4DE"/>
          </a:solidFill>
          <a:ln w="12700">
            <a:solidFill>
              <a:srgbClr val="FFF4DE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750808" y="196138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Sıcaklık: Yüksek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8732520" y="2359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</a:rPr>
              <a:t>Nem ↓  |  Oda →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9235440" y="26791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</a:rPr>
              <a:t>Küçük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9930384" y="26791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</a:rPr>
              <a:t>Orta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10625328" y="26791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</a:rPr>
              <a:t>Büyük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8549640" y="299923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Kuru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9217152" y="2907792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FFF4D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217152" y="2971800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F3A"/>
                </a:solidFill>
              </a:rPr>
              <a:t>O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9912096" y="2907792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FFE8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912096" y="2971800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F3A"/>
                </a:solidFill>
              </a:rPr>
              <a:t>Y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10607040" y="2907792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FFE8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607040" y="2971800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F3A"/>
                </a:solidFill>
              </a:rPr>
              <a:t>Y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8549640" y="35112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Normal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9217152" y="3419856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FFE8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217152" y="3483864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F3A"/>
                </a:solidFill>
              </a:rPr>
              <a:t>Y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9912096" y="3419856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FFE8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912096" y="3483864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F3A"/>
                </a:solidFill>
              </a:rPr>
              <a:t>Y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0607040" y="3419856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FFE1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607040" y="3483864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F3A"/>
                </a:solidFill>
              </a:rPr>
              <a:t>ÇY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8549640" y="402336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Nemli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9217152" y="3931920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FFE8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217152" y="3995928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F3A"/>
                </a:solidFill>
              </a:rPr>
              <a:t>Y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912096" y="3931920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FFE1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912096" y="3995928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F3A"/>
                </a:solidFill>
              </a:rPr>
              <a:t>ÇY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10607040" y="3931920"/>
            <a:ext cx="493776" cy="310896"/>
          </a:xfrm>
          <a:prstGeom prst="roundRect">
            <a:avLst>
              <a:gd name="adj" fmla="val 14706"/>
            </a:avLst>
          </a:prstGeom>
          <a:solidFill>
            <a:srgbClr val="FFE1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607040" y="3995928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2F3A"/>
                </a:solidFill>
              </a:rPr>
              <a:t>ÇY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8686800" y="4736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</a:rPr>
              <a:t>Kural eğilimi: ortam ağırlaştıkça fan seviyesi yükselir.</a:t>
            </a:r>
            <a:endParaRPr lang="en-US" sz="1080" dirty="0"/>
          </a:p>
        </p:txBody>
      </p:sp>
      <p:sp>
        <p:nvSpPr>
          <p:cNvPr id="97" name="Text 95"/>
          <p:cNvSpPr/>
          <p:nvPr/>
        </p:nvSpPr>
        <p:spPr>
          <a:xfrm>
            <a:off x="822960" y="580644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ÇD=Çok Düşük   D=Düşük   O=Orta   Y=Yüksek   ÇY=Çok Yüksek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137160"/>
            <a:ext cx="2103120" cy="2103120"/>
          </a:xfrm>
          <a:prstGeom prst="arc">
            <a:avLst/>
          </a:prstGeom>
          <a:solidFill>
            <a:srgbClr val="F8FAFC">
              <a:alpha val="0"/>
            </a:srgbClr>
          </a:solidFill>
          <a:ln w="19050">
            <a:solidFill>
              <a:srgbClr val="D2F0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5230368"/>
            <a:ext cx="1417320" cy="1417320"/>
          </a:xfrm>
          <a:prstGeom prst="arc">
            <a:avLst/>
          </a:prstGeom>
          <a:solidFill>
            <a:srgbClr val="F8FAFC">
              <a:alpha val="0"/>
            </a:srgbClr>
          </a:solidFill>
          <a:ln w="19050">
            <a:solidFill>
              <a:srgbClr val="E2D8FF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92240"/>
            <a:ext cx="6126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Bulanık Mantık Tabanlı Akıllı Klima Kontrol Sistemi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411480"/>
            <a:ext cx="8778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Aktif Kurallar ve Durulaştırma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94360" y="1060704"/>
            <a:ext cx="1005840" cy="0"/>
          </a:xfrm>
          <a:prstGeom prst="line">
            <a:avLst/>
          </a:prstGeom>
          <a:noFill/>
          <a:ln w="38100">
            <a:solidFill>
              <a:srgbClr val="16A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61288"/>
            <a:ext cx="9692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Arayüzde kullanıcı sadece sonucu değil, sonucu oluşturan kuralları da görebilir.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1481328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7E3EA">
                <a:alpha val="90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Örnek aktif kural listesi</a:t>
            </a:r>
            <a:endParaRPr lang="en-US" sz="2000" dirty="0"/>
          </a:p>
        </p:txBody>
      </p:sp>
      <p:pic>
        <p:nvPicPr>
          <p:cNvPr id="12" name="Image 0" descr="/mnt/data/fuzzy_assets/active_ru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74337"/>
            <a:ext cx="4617720" cy="192080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263640" y="1481328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7E3EA">
                <a:alpha val="90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537960" y="1783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Centroid ile tek çıktı</a:t>
            </a:r>
            <a:endParaRPr lang="en-US" sz="2000" dirty="0"/>
          </a:p>
        </p:txBody>
      </p:sp>
      <p:pic>
        <p:nvPicPr>
          <p:cNvPr id="15" name="Image 1" descr="/mnt/data/fuzzy_assets/defuzz_exam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476777"/>
            <a:ext cx="4800600" cy="227020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05840" y="598932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0E7490"/>
                </a:solidFill>
              </a:rPr>
              <a:t>Sayısal sonuç + grafiksel açıklama = daha anlaşılır karar süreci</a:t>
            </a:r>
            <a:endParaRPr lang="en-US" sz="15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137160"/>
            <a:ext cx="2103120" cy="2103120"/>
          </a:xfrm>
          <a:prstGeom prst="arc">
            <a:avLst/>
          </a:prstGeom>
          <a:solidFill>
            <a:srgbClr val="F8FAFC">
              <a:alpha val="0"/>
            </a:srgbClr>
          </a:solidFill>
          <a:ln w="19050">
            <a:solidFill>
              <a:srgbClr val="D2F0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5230368"/>
            <a:ext cx="1417320" cy="1417320"/>
          </a:xfrm>
          <a:prstGeom prst="arc">
            <a:avLst/>
          </a:prstGeom>
          <a:solidFill>
            <a:srgbClr val="F8FAFC">
              <a:alpha val="0"/>
            </a:srgbClr>
          </a:solidFill>
          <a:ln w="19050">
            <a:solidFill>
              <a:srgbClr val="E2D8FF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92240"/>
            <a:ext cx="6126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Bulanık Mantık Tabanlı Akıllı Klima Kontrol Sistemi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411480"/>
            <a:ext cx="8778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Uygulaması: Streamlit Arayüzü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94360" y="1060704"/>
            <a:ext cx="1005840" cy="0"/>
          </a:xfrm>
          <a:prstGeom prst="line">
            <a:avLst/>
          </a:prstGeom>
          <a:noFill/>
          <a:ln w="38100">
            <a:solidFill>
              <a:srgbClr val="16A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61288"/>
            <a:ext cx="9692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Kullanıcı girişleri değiştirir; sistem anlık sonuç, grafik ve aktif kuralları üretir.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77240" y="1536192"/>
            <a:ext cx="2971800" cy="4389120"/>
          </a:xfrm>
          <a:prstGeom prst="roundRect">
            <a:avLst>
              <a:gd name="adj" fmla="val 2462"/>
            </a:avLst>
          </a:prstGeom>
          <a:solidFill>
            <a:srgbClr val="E6F7FB"/>
          </a:solidFill>
          <a:ln w="12700">
            <a:solidFill>
              <a:srgbClr val="D7E3EA">
                <a:alpha val="90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" y="1828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Giriş Paneli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78992" y="24231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</a:rPr>
              <a:t>Sıcaklık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97280" y="2770632"/>
            <a:ext cx="1783080" cy="0"/>
          </a:xfrm>
          <a:prstGeom prst="line">
            <a:avLst/>
          </a:prstGeom>
          <a:noFill/>
          <a:ln w="50800">
            <a:solidFill>
              <a:srgbClr val="9EDCE9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2331720" y="2651760"/>
            <a:ext cx="237744" cy="237744"/>
          </a:xfrm>
          <a:prstGeom prst="ellipse">
            <a:avLst/>
          </a:prstGeom>
          <a:solidFill>
            <a:srgbClr val="16A3C8"/>
          </a:solidFill>
          <a:ln w="12700">
            <a:solidFill>
              <a:srgbClr val="16A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257860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E7490"/>
                </a:solidFill>
              </a:rPr>
              <a:t>28 °C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78992" y="3246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</a:rPr>
              <a:t>Nem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97280" y="3593592"/>
            <a:ext cx="1783080" cy="0"/>
          </a:xfrm>
          <a:prstGeom prst="line">
            <a:avLst/>
          </a:prstGeom>
          <a:noFill/>
          <a:ln w="50800">
            <a:solidFill>
              <a:srgbClr val="9EDCE9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2331720" y="3474720"/>
            <a:ext cx="237744" cy="237744"/>
          </a:xfrm>
          <a:prstGeom prst="ellipse">
            <a:avLst/>
          </a:prstGeom>
          <a:solidFill>
            <a:srgbClr val="16A3C8"/>
          </a:solidFill>
          <a:ln w="12700">
            <a:solidFill>
              <a:srgbClr val="16A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340156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E7490"/>
                </a:solidFill>
              </a:rPr>
              <a:t>72 %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78992" y="40690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</a:rPr>
              <a:t>Oda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97280" y="4416552"/>
            <a:ext cx="1783080" cy="0"/>
          </a:xfrm>
          <a:prstGeom prst="line">
            <a:avLst/>
          </a:prstGeom>
          <a:noFill/>
          <a:ln w="50800">
            <a:solidFill>
              <a:srgbClr val="9EDCE9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2331720" y="4297680"/>
            <a:ext cx="237744" cy="237744"/>
          </a:xfrm>
          <a:prstGeom prst="ellipse">
            <a:avLst/>
          </a:prstGeom>
          <a:solidFill>
            <a:srgbClr val="16A3C8"/>
          </a:solidFill>
          <a:ln w="12700">
            <a:solidFill>
              <a:srgbClr val="16A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0" y="422452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E7490"/>
                </a:solidFill>
              </a:rPr>
              <a:t>48 m²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97280" y="5074920"/>
            <a:ext cx="2057400" cy="411480"/>
          </a:xfrm>
          <a:prstGeom prst="roundRect">
            <a:avLst>
              <a:gd name="adj" fmla="val 17778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5184648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Hesapla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60520" y="1536192"/>
            <a:ext cx="3291840" cy="43891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7E3EA">
                <a:alpha val="90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48056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Sonuç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4754880" y="248716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E749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%70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4572000" y="3246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4155"/>
                </a:solidFill>
              </a:rPr>
              <a:t>Fan Seviyesi: Yüksek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736592" y="3749040"/>
            <a:ext cx="1965960" cy="1005840"/>
          </a:xfrm>
          <a:prstGeom prst="arc">
            <a:avLst/>
          </a:prstGeom>
          <a:solidFill>
            <a:srgbClr val="FFFFFF">
              <a:alpha val="0"/>
            </a:srgbClr>
          </a:solidFill>
          <a:ln w="101600">
            <a:solidFill>
              <a:srgbClr val="16A3C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8400000">
            <a:off x="4736592" y="3749040"/>
            <a:ext cx="1965960" cy="1005840"/>
          </a:xfrm>
          <a:prstGeom prst="arc">
            <a:avLst/>
          </a:prstGeom>
          <a:solidFill>
            <a:srgbClr val="FFFFFF">
              <a:alpha val="0"/>
            </a:srgbClr>
          </a:solidFill>
          <a:ln w="10160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0288" y="48920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anlık durulaştırılmış çıktı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863840" y="1536192"/>
            <a:ext cx="3520440" cy="4389120"/>
          </a:xfrm>
          <a:prstGeom prst="roundRect">
            <a:avLst>
              <a:gd name="adj" fmla="val 2078"/>
            </a:avLst>
          </a:prstGeom>
          <a:solidFill>
            <a:srgbClr val="E9FBF4"/>
          </a:solidFill>
          <a:ln w="12700">
            <a:solidFill>
              <a:srgbClr val="D7E3EA">
                <a:alpha val="90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18388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Grafikler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8211312" y="2496312"/>
            <a:ext cx="109728" cy="109728"/>
          </a:xfrm>
          <a:prstGeom prst="ellipse">
            <a:avLst/>
          </a:prstGeom>
          <a:solidFill>
            <a:srgbClr val="16A3C8"/>
          </a:solidFill>
          <a:ln w="12700">
            <a:solidFill>
              <a:srgbClr val="16A3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39912" y="2423160"/>
            <a:ext cx="2514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Üyelik fonksiyonları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211312" y="2999232"/>
            <a:ext cx="109728" cy="109728"/>
          </a:xfrm>
          <a:prstGeom prst="ellipse">
            <a:avLst/>
          </a:prstGeom>
          <a:solidFill>
            <a:srgbClr val="16A3C8"/>
          </a:solidFill>
          <a:ln w="12700">
            <a:solidFill>
              <a:srgbClr val="16A3C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39912" y="2926080"/>
            <a:ext cx="2514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Aktif kural listesi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211312" y="3502152"/>
            <a:ext cx="109728" cy="109728"/>
          </a:xfrm>
          <a:prstGeom prst="ellipse">
            <a:avLst/>
          </a:prstGeom>
          <a:solidFill>
            <a:srgbClr val="16A3C8"/>
          </a:solidFill>
          <a:ln w="12700">
            <a:solidFill>
              <a:srgbClr val="16A3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39912" y="3429000"/>
            <a:ext cx="2514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Kural aktivasyon grafiği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211312" y="4005072"/>
            <a:ext cx="109728" cy="109728"/>
          </a:xfrm>
          <a:prstGeom prst="ellipse">
            <a:avLst/>
          </a:prstGeom>
          <a:solidFill>
            <a:srgbClr val="16A3C8"/>
          </a:solidFill>
          <a:ln w="12700">
            <a:solidFill>
              <a:srgbClr val="16A3C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39912" y="3931920"/>
            <a:ext cx="2514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Centroid çıktı grafiği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183880" y="5257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490"/>
                </a:solidFill>
              </a:rPr>
              <a:t>Streamlit + scikit-fuzzy + NumPy + Matplotlib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137160"/>
            <a:ext cx="2103120" cy="2103120"/>
          </a:xfrm>
          <a:prstGeom prst="arc">
            <a:avLst/>
          </a:prstGeom>
          <a:solidFill>
            <a:srgbClr val="F8FAFC">
              <a:alpha val="0"/>
            </a:srgbClr>
          </a:solidFill>
          <a:ln w="19050">
            <a:solidFill>
              <a:srgbClr val="D2F0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5230368"/>
            <a:ext cx="1417320" cy="1417320"/>
          </a:xfrm>
          <a:prstGeom prst="arc">
            <a:avLst/>
          </a:prstGeom>
          <a:solidFill>
            <a:srgbClr val="F8FAFC">
              <a:alpha val="0"/>
            </a:srgbClr>
          </a:solidFill>
          <a:ln w="19050">
            <a:solidFill>
              <a:srgbClr val="E2D8FF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92240"/>
            <a:ext cx="6126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Bulanık Mantık Tabanlı Akıllı Klima Kontrol Sistemi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411480"/>
            <a:ext cx="8778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Sonuçları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94360" y="1060704"/>
            <a:ext cx="1005840" cy="0"/>
          </a:xfrm>
          <a:prstGeom prst="line">
            <a:avLst/>
          </a:prstGeom>
          <a:noFill/>
          <a:ln w="38100">
            <a:solidFill>
              <a:srgbClr val="16A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61288"/>
            <a:ext cx="9692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Farklı ortam koşullarında fan hızının beklenen şekilde değiştiği görülür.</a:t>
            </a:r>
            <a:endParaRPr lang="en-US" sz="1450" dirty="0"/>
          </a:p>
        </p:txBody>
      </p:sp>
      <p:pic>
        <p:nvPicPr>
          <p:cNvPr id="10" name="Image 0" descr="/mnt/data/fuzzy_assets/scenario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37142"/>
            <a:ext cx="8138160" cy="328663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44000" y="1691640"/>
            <a:ext cx="2331720" cy="39776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3EA">
                <a:alpha val="90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72600" y="19933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Öne çıkan sonuç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9418320" y="2679192"/>
            <a:ext cx="109728" cy="109728"/>
          </a:xfrm>
          <a:prstGeom prst="ellipse">
            <a:avLst/>
          </a:prstGeom>
          <a:solidFill>
            <a:srgbClr val="16A3C8"/>
          </a:solidFill>
          <a:ln w="12700">
            <a:solidFill>
              <a:srgbClr val="16A3C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46920" y="2606040"/>
            <a:ext cx="1691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Serin-kuru küçük odada fan çok düşük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418320" y="3246120"/>
            <a:ext cx="109728" cy="109728"/>
          </a:xfrm>
          <a:prstGeom prst="ellipse">
            <a:avLst/>
          </a:prstGeom>
          <a:solidFill>
            <a:srgbClr val="16A3C8"/>
          </a:solidFill>
          <a:ln w="12700">
            <a:solidFill>
              <a:srgbClr val="16A3C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46920" y="3172968"/>
            <a:ext cx="1691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Konforlu orta odada fan orta düzeyde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418320" y="3813048"/>
            <a:ext cx="109728" cy="109728"/>
          </a:xfrm>
          <a:prstGeom prst="ellipse">
            <a:avLst/>
          </a:prstGeom>
          <a:solidFill>
            <a:srgbClr val="16A3C8"/>
          </a:solidFill>
          <a:ln w="12700">
            <a:solidFill>
              <a:srgbClr val="16A3C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46920" y="3739896"/>
            <a:ext cx="1691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Sıcak-nemli büyük odada fan en yüksek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9372600" y="4800600"/>
            <a:ext cx="17830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7490"/>
                </a:solidFill>
              </a:rPr>
              <a:t>Sonuçlar, kural tabanının gerçek hayattaki beklentiyle uyumlu çalıştığını gösterir.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137160"/>
            <a:ext cx="2103120" cy="2103120"/>
          </a:xfrm>
          <a:prstGeom prst="arc">
            <a:avLst/>
          </a:prstGeom>
          <a:solidFill>
            <a:srgbClr val="F8FAFC">
              <a:alpha val="0"/>
            </a:srgbClr>
          </a:solidFill>
          <a:ln w="19050">
            <a:solidFill>
              <a:srgbClr val="D2F0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5230368"/>
            <a:ext cx="1417320" cy="1417320"/>
          </a:xfrm>
          <a:prstGeom prst="arc">
            <a:avLst/>
          </a:prstGeom>
          <a:solidFill>
            <a:srgbClr val="F8FAFC">
              <a:alpha val="0"/>
            </a:srgbClr>
          </a:solidFill>
          <a:ln w="19050">
            <a:solidFill>
              <a:srgbClr val="E2D8FF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92240"/>
            <a:ext cx="6126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Bulanık Mantık Tabanlı Akıllı Klima Kontrol Sistemi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411480"/>
            <a:ext cx="8778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Sonuçların Yorumlanması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94360" y="1060704"/>
            <a:ext cx="1005840" cy="0"/>
          </a:xfrm>
          <a:prstGeom prst="line">
            <a:avLst/>
          </a:prstGeom>
          <a:noFill/>
          <a:ln w="38100">
            <a:solidFill>
              <a:srgbClr val="16A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61288"/>
            <a:ext cx="9692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sadece sıcaklığı değil, konforu etkileyen bağlamı birlikte değerlendirir.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1783080"/>
            <a:ext cx="3063240" cy="3017520"/>
          </a:xfrm>
          <a:prstGeom prst="roundRect">
            <a:avLst>
              <a:gd name="adj" fmla="val 2424"/>
            </a:avLst>
          </a:prstGeom>
          <a:solidFill>
            <a:srgbClr val="E6F7FB"/>
          </a:solidFill>
          <a:ln w="12700">
            <a:solidFill>
              <a:srgbClr val="D7E3EA">
                <a:alpha val="90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15568" y="2084832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2130552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82F3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💧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892808" y="21762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Nem etkisi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234440" y="2971800"/>
            <a:ext cx="22402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155"/>
                </a:solidFill>
              </a:rPr>
              <a:t>Sıcaklık çok artmasa bile nem yükseldiğinde fan hızı artar.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26280" y="1783080"/>
            <a:ext cx="3063240" cy="3017520"/>
          </a:xfrm>
          <a:prstGeom prst="roundRect">
            <a:avLst>
              <a:gd name="adj" fmla="val 2424"/>
            </a:avLst>
          </a:prstGeom>
          <a:solidFill>
            <a:srgbClr val="E9FBF4"/>
          </a:solidFill>
          <a:ln w="12700">
            <a:solidFill>
              <a:srgbClr val="D7E3EA">
                <a:alpha val="90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18888" y="2084832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2130552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82F3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596128" y="21762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Oda etkisi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937760" y="2971800"/>
            <a:ext cx="22402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155"/>
                </a:solidFill>
              </a:rPr>
              <a:t>Büyük odada hava sirkülasyonu için daha yüksek fan seviyesi gerekir.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0" y="1783080"/>
            <a:ext cx="3063240" cy="3017520"/>
          </a:xfrm>
          <a:prstGeom prst="roundRect">
            <a:avLst>
              <a:gd name="adj" fmla="val 2424"/>
            </a:avLst>
          </a:prstGeom>
          <a:solidFill>
            <a:srgbClr val="FFF4DE"/>
          </a:solidFill>
          <a:ln w="12700">
            <a:solidFill>
              <a:srgbClr val="D7E3EA">
                <a:alpha val="90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22208" y="2084832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22208" y="2130552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82F3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299448" y="21762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Enerji dengesi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641080" y="2971800"/>
            <a:ext cx="22402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155"/>
                </a:solidFill>
              </a:rPr>
              <a:t>Serin ve kuru ortamda sistem fanı düşük tutarak gereksiz tüketimi azaltır.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34440" y="5303520"/>
            <a:ext cx="9738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3EA">
                <a:alpha val="90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554480" y="5513832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Genel eğilim: ortam “daha zor soğutulur” hale geldikçe fan çıkışı kademeli olarak yükselir.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137160"/>
            <a:ext cx="2103120" cy="2103120"/>
          </a:xfrm>
          <a:prstGeom prst="arc">
            <a:avLst/>
          </a:prstGeom>
          <a:solidFill>
            <a:srgbClr val="F8FAFC">
              <a:alpha val="0"/>
            </a:srgbClr>
          </a:solidFill>
          <a:ln w="19050">
            <a:solidFill>
              <a:srgbClr val="D2F0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5230368"/>
            <a:ext cx="1417320" cy="1417320"/>
          </a:xfrm>
          <a:prstGeom prst="arc">
            <a:avLst/>
          </a:prstGeom>
          <a:solidFill>
            <a:srgbClr val="F8FAFC">
              <a:alpha val="0"/>
            </a:srgbClr>
          </a:solidFill>
          <a:ln w="19050">
            <a:solidFill>
              <a:srgbClr val="E2D8FF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92240"/>
            <a:ext cx="6126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Bulanık Mantık Tabanlı Akıllı Klima Kontrol Sistemi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411480"/>
            <a:ext cx="8778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Güçlü / Zayıf Yönler ve Güncel Yaklaşımlar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94360" y="1060704"/>
            <a:ext cx="1005840" cy="0"/>
          </a:xfrm>
          <a:prstGeom prst="line">
            <a:avLst/>
          </a:prstGeom>
          <a:noFill/>
          <a:ln w="38100">
            <a:solidFill>
              <a:srgbClr val="16A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61288"/>
            <a:ext cx="9692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Bulanık mantık açıklanabilirlik sağlar; ancak kural tasarımı uzman bilgisine bağlıdır.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1600200"/>
            <a:ext cx="3474720" cy="4251960"/>
          </a:xfrm>
          <a:prstGeom prst="roundRect">
            <a:avLst>
              <a:gd name="adj" fmla="val 2105"/>
            </a:avLst>
          </a:prstGeom>
          <a:solidFill>
            <a:srgbClr val="E9FBF4"/>
          </a:solidFill>
          <a:ln w="12700">
            <a:solidFill>
              <a:srgbClr val="D7E3EA">
                <a:alpha val="90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24128" y="1901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Güçlü Yönler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51560" y="2633472"/>
            <a:ext cx="109728" cy="109728"/>
          </a:xfrm>
          <a:prstGeom prst="ellipse">
            <a:avLst/>
          </a:prstGeom>
          <a:solidFill>
            <a:srgbClr val="16A3C8"/>
          </a:solidFill>
          <a:ln w="12700">
            <a:solidFill>
              <a:srgbClr val="16A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2560320"/>
            <a:ext cx="2560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Açıklanabilir karar yapısı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51560" y="3145536"/>
            <a:ext cx="109728" cy="109728"/>
          </a:xfrm>
          <a:prstGeom prst="ellipse">
            <a:avLst/>
          </a:prstGeom>
          <a:solidFill>
            <a:srgbClr val="16A3C8"/>
          </a:solidFill>
          <a:ln w="12700">
            <a:solidFill>
              <a:srgbClr val="16A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3072384"/>
            <a:ext cx="2560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 veri ile kurulabilir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51560" y="3657600"/>
            <a:ext cx="109728" cy="109728"/>
          </a:xfrm>
          <a:prstGeom prst="ellipse">
            <a:avLst/>
          </a:prstGeom>
          <a:solidFill>
            <a:srgbClr val="16A3C8"/>
          </a:solidFill>
          <a:ln w="12700">
            <a:solidFill>
              <a:srgbClr val="16A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3584448"/>
            <a:ext cx="2560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Yumuşak ve kararlı çıktı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051560" y="4169664"/>
            <a:ext cx="109728" cy="109728"/>
          </a:xfrm>
          <a:prstGeom prst="ellipse">
            <a:avLst/>
          </a:prstGeom>
          <a:solidFill>
            <a:srgbClr val="16A3C8"/>
          </a:solidFill>
          <a:ln w="12700">
            <a:solidFill>
              <a:srgbClr val="16A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4096512"/>
            <a:ext cx="2560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Kural tabanı genişletilebilir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26280" y="1600200"/>
            <a:ext cx="3474720" cy="4251960"/>
          </a:xfrm>
          <a:prstGeom prst="roundRect">
            <a:avLst>
              <a:gd name="adj" fmla="val 2105"/>
            </a:avLst>
          </a:prstGeom>
          <a:solidFill>
            <a:srgbClr val="FFF4DE"/>
          </a:solidFill>
          <a:ln w="12700">
            <a:solidFill>
              <a:srgbClr val="D7E3EA">
                <a:alpha val="90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18888" y="1901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Zayıf Yönler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846320" y="2633472"/>
            <a:ext cx="109728" cy="109728"/>
          </a:xfrm>
          <a:prstGeom prst="ellipse">
            <a:avLst/>
          </a:prstGeom>
          <a:solidFill>
            <a:srgbClr val="16A3C8"/>
          </a:solidFill>
          <a:ln w="12700">
            <a:solidFill>
              <a:srgbClr val="16A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2560320"/>
            <a:ext cx="2560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Kurallar uzman bilgisine bağlı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846320" y="3200400"/>
            <a:ext cx="109728" cy="109728"/>
          </a:xfrm>
          <a:prstGeom prst="ellipse">
            <a:avLst/>
          </a:prstGeom>
          <a:solidFill>
            <a:srgbClr val="16A3C8"/>
          </a:solidFill>
          <a:ln w="12700">
            <a:solidFill>
              <a:srgbClr val="16A3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3127248"/>
            <a:ext cx="2560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Üyelik fonksiyonu seçimi sonucu etkiler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846320" y="3767328"/>
            <a:ext cx="109728" cy="109728"/>
          </a:xfrm>
          <a:prstGeom prst="ellipse">
            <a:avLst/>
          </a:prstGeom>
          <a:solidFill>
            <a:srgbClr val="16A3C8"/>
          </a:solidFill>
          <a:ln w="12700">
            <a:solidFill>
              <a:srgbClr val="16A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3694176"/>
            <a:ext cx="2560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Giriş sayısı artınca kural sayısı büyür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321040" y="1600200"/>
            <a:ext cx="3108960" cy="4251960"/>
          </a:xfrm>
          <a:prstGeom prst="roundRect">
            <a:avLst>
              <a:gd name="adj" fmla="val 2353"/>
            </a:avLst>
          </a:prstGeom>
          <a:solidFill>
            <a:srgbClr val="E6F7FB"/>
          </a:solidFill>
          <a:ln w="12700">
            <a:solidFill>
              <a:srgbClr val="D7E3EA">
                <a:alpha val="90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13648" y="1901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Kıyaslama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641080" y="2606040"/>
            <a:ext cx="219456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</a:rPr>
              <a:t>Klasik kontrol sabit eşiklere dayanır. Makine öğrenmesi güçlü olabilir ancak veri ve eğitim ister. Bulanık mantık ise açıklanabilir ve hızlı uygulanabilir bir orta yol sunar.</a:t>
            </a:r>
            <a:endParaRPr lang="en-US" sz="14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137160"/>
            <a:ext cx="2103120" cy="2103120"/>
          </a:xfrm>
          <a:prstGeom prst="arc">
            <a:avLst/>
          </a:prstGeom>
          <a:solidFill>
            <a:srgbClr val="F8FAFC">
              <a:alpha val="0"/>
            </a:srgbClr>
          </a:solidFill>
          <a:ln w="19050">
            <a:solidFill>
              <a:srgbClr val="D2F0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5230368"/>
            <a:ext cx="1417320" cy="1417320"/>
          </a:xfrm>
          <a:prstGeom prst="arc">
            <a:avLst/>
          </a:prstGeom>
          <a:solidFill>
            <a:srgbClr val="F8FAFC">
              <a:alpha val="0"/>
            </a:srgbClr>
          </a:solidFill>
          <a:ln w="19050">
            <a:solidFill>
              <a:srgbClr val="E2D8FF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92240"/>
            <a:ext cx="6126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Bulanık Mantık Tabanlı Akıllı Klima Kontrol Sistemi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411480"/>
            <a:ext cx="8778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Sonuç ve Teslim Hazırlığı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94360" y="1060704"/>
            <a:ext cx="1005840" cy="0"/>
          </a:xfrm>
          <a:prstGeom prst="line">
            <a:avLst/>
          </a:prstGeom>
          <a:noFill/>
          <a:ln w="38100">
            <a:solidFill>
              <a:srgbClr val="16A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61288"/>
            <a:ext cx="9692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Proje, teorik bulanık mantık adımlarını çalışan Python arayüzüyle birleştirir.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160020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7E3EA">
                <a:alpha val="90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Sonuç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097280" y="2679192"/>
            <a:ext cx="109728" cy="109728"/>
          </a:xfrm>
          <a:prstGeom prst="ellipse">
            <a:avLst/>
          </a:prstGeom>
          <a:solidFill>
            <a:srgbClr val="16A3C8"/>
          </a:solidFill>
          <a:ln w="12700">
            <a:solidFill>
              <a:srgbClr val="16A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2606040"/>
            <a:ext cx="4480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Sıcaklık, nem ve oda büyüklüğü bulanıklaştırıldı.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097280" y="3191256"/>
            <a:ext cx="109728" cy="109728"/>
          </a:xfrm>
          <a:prstGeom prst="ellipse">
            <a:avLst/>
          </a:prstGeom>
          <a:solidFill>
            <a:srgbClr val="16A3C8"/>
          </a:solidFill>
          <a:ln w="12700">
            <a:solidFill>
              <a:srgbClr val="16A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3118104"/>
            <a:ext cx="4480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 kural ile Mamdani çıkarım sistemi kuruldu.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1097280" y="3703320"/>
            <a:ext cx="109728" cy="109728"/>
          </a:xfrm>
          <a:prstGeom prst="ellipse">
            <a:avLst/>
          </a:prstGeom>
          <a:solidFill>
            <a:srgbClr val="16A3C8"/>
          </a:solidFill>
          <a:ln w="12700">
            <a:solidFill>
              <a:srgbClr val="16A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3630168"/>
            <a:ext cx="4480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Centroid yöntemiyle fan hızı sayısal olarak üretildi.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1097280" y="4215384"/>
            <a:ext cx="109728" cy="109728"/>
          </a:xfrm>
          <a:prstGeom prst="ellipse">
            <a:avLst/>
          </a:prstGeom>
          <a:solidFill>
            <a:srgbClr val="16A3C8"/>
          </a:solidFill>
          <a:ln w="12700">
            <a:solidFill>
              <a:srgbClr val="16A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4142232"/>
            <a:ext cx="4480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Arayüzde üyelik fonksiyonları, aktif kurallar ve sonuç grafiği gösterildi.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583680" y="1600200"/>
            <a:ext cx="4754880" cy="4297680"/>
          </a:xfrm>
          <a:prstGeom prst="roundRect">
            <a:avLst>
              <a:gd name="adj" fmla="val 1702"/>
            </a:avLst>
          </a:prstGeom>
          <a:solidFill>
            <a:srgbClr val="E6F7FB"/>
          </a:solidFill>
          <a:ln w="12700">
            <a:solidFill>
              <a:srgbClr val="D7E3EA">
                <a:alpha val="90000"/>
              </a:srgbClr>
            </a:solidFill>
            <a:prstDash val="solid"/>
          </a:ln>
          <a:effectLst>
            <a:outerShdw blurRad="127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037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2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 teslim kontrolü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995160" y="265176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22592" y="2665476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315200" y="26426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README.md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961120" y="265176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88552" y="2665476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9281160" y="26426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Kaynak kodlar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995160" y="333756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22592" y="3351276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315200" y="33284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Rapor dosyası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961120" y="333756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88552" y="3351276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9281160" y="33284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Sunum dosyası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995160" y="402336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22592" y="4037076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315200" y="40142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requirements.txt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961120" y="402336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88552" y="4037076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9281160" y="40142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Public repository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040880" y="4983480"/>
            <a:ext cx="3840480" cy="411480"/>
          </a:xfrm>
          <a:prstGeom prst="roundRect">
            <a:avLst>
              <a:gd name="adj" fmla="val 17778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40880" y="5093208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Deadline: 21.05.2026 • 13:00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1114</Words>
  <Application>Microsoft Office PowerPoint</Application>
  <PresentationFormat>Geniş ekran</PresentationFormat>
  <Paragraphs>246</Paragraphs>
  <Slides>13</Slides>
  <Notes>13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Segoe UI Emoji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ChatGPT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Bulanık Mantık Tabanlı Akıllı Klima Kontrol Sistemi</dc:title>
  <dc:subject>Bulanık Mantık Dersi Dönem Projesi</dc:subject>
  <dc:creator>Kaan Gerçek</dc:creator>
  <cp:lastModifiedBy>kaan gerçek</cp:lastModifiedBy>
  <cp:revision>2</cp:revision>
  <dcterms:created xsi:type="dcterms:W3CDTF">2026-05-18T10:01:51Z</dcterms:created>
  <dcterms:modified xsi:type="dcterms:W3CDTF">2026-05-18T10:04:25Z</dcterms:modified>
</cp:coreProperties>
</file>